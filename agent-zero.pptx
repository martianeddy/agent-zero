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7"/>
    </p:embeddedFont>
    <p:embeddedFont>
      <p:font typeface="Arimo" charset="1" panose="020B0604020202020204"/>
      <p:regular r:id="rId18"/>
    </p:embeddedFont>
    <p:embeddedFont>
      <p:font typeface="Arimo Bold" charset="1" panose="020B0704020202020204"/>
      <p:regular r:id="rId19"/>
    </p:embeddedFont>
    <p:embeddedFont>
      <p:font typeface="Poppins" charset="1" panose="000005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HXBPm5p0M.mp4" Type="http://schemas.openxmlformats.org/officeDocument/2006/relationships/video"/><Relationship Id="rId4" Target="../media/VAHXBPm5p0M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HXBa1OLF0.mp4" Type="http://schemas.openxmlformats.org/officeDocument/2006/relationships/video"/><Relationship Id="rId4" Target="../media/VAHXBa1OLF0.mp4" Type="http://schemas.microsoft.com/office/2007/relationships/media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VAHXBOEI2Q8.mp4" Type="http://schemas.openxmlformats.org/officeDocument/2006/relationships/video"/><Relationship Id="rId4" Target="../media/VAHXBOEI2Q8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559" r="0" b="-2186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14791" y="1028700"/>
            <a:ext cx="5244509" cy="245685"/>
            <a:chOff x="0" y="0"/>
            <a:chExt cx="1381270" cy="647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270" cy="64707"/>
            </a:xfrm>
            <a:custGeom>
              <a:avLst/>
              <a:gdLst/>
              <a:ahLst/>
              <a:cxnLst/>
              <a:rect r="r" b="b" t="t" l="l"/>
              <a:pathLst>
                <a:path h="64707" w="1381270">
                  <a:moveTo>
                    <a:pt x="32354" y="0"/>
                  </a:moveTo>
                  <a:lnTo>
                    <a:pt x="1348916" y="0"/>
                  </a:lnTo>
                  <a:cubicBezTo>
                    <a:pt x="1357497" y="0"/>
                    <a:pt x="1365726" y="3409"/>
                    <a:pt x="1371794" y="9476"/>
                  </a:cubicBezTo>
                  <a:cubicBezTo>
                    <a:pt x="1377861" y="15544"/>
                    <a:pt x="1381270" y="23773"/>
                    <a:pt x="1381270" y="32354"/>
                  </a:cubicBezTo>
                  <a:lnTo>
                    <a:pt x="1381270" y="32354"/>
                  </a:lnTo>
                  <a:cubicBezTo>
                    <a:pt x="1381270" y="40934"/>
                    <a:pt x="1377861" y="49164"/>
                    <a:pt x="1371794" y="55231"/>
                  </a:cubicBezTo>
                  <a:cubicBezTo>
                    <a:pt x="1365726" y="61299"/>
                    <a:pt x="1357497" y="64707"/>
                    <a:pt x="1348916" y="64707"/>
                  </a:cubicBezTo>
                  <a:lnTo>
                    <a:pt x="32354" y="64707"/>
                  </a:lnTo>
                  <a:cubicBezTo>
                    <a:pt x="23773" y="64707"/>
                    <a:pt x="15544" y="61299"/>
                    <a:pt x="9476" y="55231"/>
                  </a:cubicBezTo>
                  <a:cubicBezTo>
                    <a:pt x="3409" y="49164"/>
                    <a:pt x="0" y="40934"/>
                    <a:pt x="0" y="32354"/>
                  </a:cubicBezTo>
                  <a:lnTo>
                    <a:pt x="0" y="32354"/>
                  </a:lnTo>
                  <a:cubicBezTo>
                    <a:pt x="0" y="23773"/>
                    <a:pt x="3409" y="15544"/>
                    <a:pt x="9476" y="9476"/>
                  </a:cubicBezTo>
                  <a:cubicBezTo>
                    <a:pt x="15544" y="3409"/>
                    <a:pt x="23773" y="0"/>
                    <a:pt x="32354" y="0"/>
                  </a:cubicBezTo>
                  <a:close/>
                </a:path>
              </a:pathLst>
            </a:custGeom>
            <a:solidFill>
              <a:srgbClr val="EFEFEF"/>
            </a:solidFill>
            <a:ln w="9525" cap="rnd">
              <a:solidFill>
                <a:srgbClr val="13131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1270" cy="102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685668" y="4298645"/>
            <a:ext cx="13308309" cy="6654155"/>
          </a:xfrm>
          <a:custGeom>
            <a:avLst/>
            <a:gdLst/>
            <a:ahLst/>
            <a:cxnLst/>
            <a:rect r="r" b="b" t="t" l="l"/>
            <a:pathLst>
              <a:path h="6654155" w="13308309">
                <a:moveTo>
                  <a:pt x="0" y="0"/>
                </a:moveTo>
                <a:lnTo>
                  <a:pt x="13308309" y="0"/>
                </a:lnTo>
                <a:lnTo>
                  <a:pt x="13308309" y="6654155"/>
                </a:lnTo>
                <a:lnTo>
                  <a:pt x="0" y="6654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55519" y="1033408"/>
            <a:ext cx="539254" cy="2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rPr>
              <a:t>Service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22641" y="1033408"/>
            <a:ext cx="425028" cy="2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02622" y="1033408"/>
            <a:ext cx="668114" cy="2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78586" y="1033408"/>
            <a:ext cx="572864" cy="207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31313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107805"/>
            <a:ext cx="105582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0"/>
              </a:lnSpc>
              <a:spcBef>
                <a:spcPct val="0"/>
              </a:spcBef>
            </a:pPr>
            <a:r>
              <a:rPr lang="en-US" sz="12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Presented by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18855" y="9107805"/>
            <a:ext cx="1518851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0"/>
              </a:lnSpc>
              <a:spcBef>
                <a:spcPct val="0"/>
              </a:spcBef>
            </a:pPr>
            <a:r>
              <a:rPr lang="en-US" b="true" sz="1200">
                <a:solidFill>
                  <a:srgbClr val="EFEFEF"/>
                </a:solidFill>
                <a:latin typeface="Inter Bold"/>
                <a:ea typeface="Inter Bold"/>
                <a:cs typeface="Inter Bold"/>
                <a:sym typeface="Inter Bold"/>
              </a:rPr>
              <a:t>Bouric Enos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56391" y="9107805"/>
            <a:ext cx="1708467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"/>
              </a:lnSpc>
              <a:spcBef>
                <a:spcPct val="0"/>
              </a:spcBef>
            </a:pPr>
            <a:r>
              <a:rPr lang="en-US" sz="12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Oct 4, 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93760" y="9107805"/>
            <a:ext cx="2165540" cy="15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80"/>
              </a:lnSpc>
              <a:spcBef>
                <a:spcPct val="0"/>
              </a:spcBef>
            </a:pPr>
            <a:r>
              <a:rPr lang="en-US" sz="12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www.reallygreatsite.com</a:t>
            </a:r>
            <a:r>
              <a:rPr lang="en-US" sz="1200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0.0000" end="10975.0110"/>
                </p14:media>
              </p:ext>
            </p:extLst>
          </p:nvPr>
        </p:nvPicPr>
        <p:blipFill>
          <a:blip r:embed="rId2">
            <a:alphaModFix amt="37000"/>
          </a:blip>
          <a:srcRect l="0" t="0" r="0" b="0"/>
          <a:stretch>
            <a:fillRect/>
          </a:stretch>
        </p:blipFill>
        <p:spPr>
          <a:xfrm flipH="false" flipV="false" rot="0">
            <a:off x="1828800" y="1195197"/>
            <a:ext cx="14630400" cy="8229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9654612" y="6410561"/>
            <a:ext cx="8633388" cy="3549489"/>
            <a:chOff x="0" y="0"/>
            <a:chExt cx="2273814" cy="9348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3814" cy="934845"/>
            </a:xfrm>
            <a:custGeom>
              <a:avLst/>
              <a:gdLst/>
              <a:ahLst/>
              <a:cxnLst/>
              <a:rect r="r" b="b" t="t" l="l"/>
              <a:pathLst>
                <a:path h="934845" w="2273814">
                  <a:moveTo>
                    <a:pt x="45734" y="0"/>
                  </a:moveTo>
                  <a:lnTo>
                    <a:pt x="2228080" y="0"/>
                  </a:lnTo>
                  <a:cubicBezTo>
                    <a:pt x="2240210" y="0"/>
                    <a:pt x="2251842" y="4818"/>
                    <a:pt x="2260419" y="13395"/>
                  </a:cubicBezTo>
                  <a:cubicBezTo>
                    <a:pt x="2268996" y="21972"/>
                    <a:pt x="2273814" y="33604"/>
                    <a:pt x="2273814" y="45734"/>
                  </a:cubicBezTo>
                  <a:lnTo>
                    <a:pt x="2273814" y="889111"/>
                  </a:lnTo>
                  <a:cubicBezTo>
                    <a:pt x="2273814" y="914369"/>
                    <a:pt x="2253338" y="934845"/>
                    <a:pt x="2228080" y="934845"/>
                  </a:cubicBezTo>
                  <a:lnTo>
                    <a:pt x="45734" y="934845"/>
                  </a:lnTo>
                  <a:cubicBezTo>
                    <a:pt x="33604" y="934845"/>
                    <a:pt x="21972" y="930027"/>
                    <a:pt x="13395" y="921450"/>
                  </a:cubicBezTo>
                  <a:cubicBezTo>
                    <a:pt x="4818" y="912873"/>
                    <a:pt x="0" y="901241"/>
                    <a:pt x="0" y="889111"/>
                  </a:cubicBezTo>
                  <a:lnTo>
                    <a:pt x="0" y="45734"/>
                  </a:lnTo>
                  <a:cubicBezTo>
                    <a:pt x="0" y="33604"/>
                    <a:pt x="4818" y="21972"/>
                    <a:pt x="13395" y="13395"/>
                  </a:cubicBezTo>
                  <a:cubicBezTo>
                    <a:pt x="21972" y="4818"/>
                    <a:pt x="33604" y="0"/>
                    <a:pt x="45734" y="0"/>
                  </a:cubicBezTo>
                  <a:close/>
                </a:path>
              </a:pathLst>
            </a:custGeom>
            <a:solidFill>
              <a:srgbClr val="131313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2273814" cy="887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4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86458" y="7106901"/>
            <a:ext cx="7526838" cy="237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6"/>
              </a:lnSpc>
            </a:pPr>
            <a:r>
              <a:rPr lang="en-US" sz="2854" spc="-5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Claims, sc</a:t>
            </a:r>
            <a:r>
              <a:rPr lang="en-US" sz="2854" spc="-5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reenshots and images can spread before </a:t>
            </a:r>
            <a:r>
              <a:rPr lang="en-US" sz="2854" spc="-5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they are confirmed.</a:t>
            </a:r>
          </a:p>
          <a:p>
            <a:pPr algn="just">
              <a:lnSpc>
                <a:spcPts val="2626"/>
              </a:lnSpc>
            </a:pPr>
          </a:p>
          <a:p>
            <a:pPr algn="just">
              <a:lnSpc>
                <a:spcPts val="2626"/>
              </a:lnSpc>
            </a:pPr>
            <a:r>
              <a:rPr lang="en-US" b="true" sz="2854" spc="-57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Sources can be difficult to trace.</a:t>
            </a:r>
          </a:p>
          <a:p>
            <a:pPr algn="just">
              <a:lnSpc>
                <a:spcPts val="2626"/>
              </a:lnSpc>
            </a:pPr>
            <a:r>
              <a:rPr lang="en-US" sz="2854" spc="-5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Repeated information may still originate from one unverified source.</a:t>
            </a:r>
          </a:p>
          <a:p>
            <a:pPr algn="just">
              <a:lnSpc>
                <a:spcPts val="262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613398"/>
            <a:ext cx="6182230" cy="9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86458" y="6643716"/>
            <a:ext cx="7801542" cy="40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5"/>
              </a:lnSpc>
            </a:pPr>
            <a:r>
              <a:rPr lang="en-US" b="true" sz="3114" spc="-62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Inf</a:t>
            </a:r>
            <a:r>
              <a:rPr lang="en-US" b="true" sz="3114" spc="-62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orm</a:t>
            </a:r>
            <a:r>
              <a:rPr lang="en-US" b="true" sz="3114" spc="-62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ation moves faster than verification.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768933" y="-877224"/>
            <a:ext cx="6519067" cy="12899095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49" r="0" b="-1849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08284" y="2396910"/>
            <a:ext cx="7600950" cy="19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284" y="4698747"/>
            <a:ext cx="4911873" cy="44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7"/>
              </a:lnSpc>
            </a:pPr>
            <a:r>
              <a:rPr lang="en-US" sz="3399" spc="-6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  <a:r>
              <a:rPr lang="en-US" sz="3399" spc="-6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erif</a:t>
            </a:r>
            <a:r>
              <a:rPr lang="en-US" sz="3399" spc="-67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ication is fragmented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8284" y="6338768"/>
            <a:ext cx="2746667" cy="27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17"/>
              </a:lnSpc>
            </a:pPr>
            <a:r>
              <a:rPr lang="en-US" sz="2084" spc="-4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  <a:r>
              <a:rPr lang="en-US" sz="2084" spc="-4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 — C</a:t>
            </a:r>
            <a:r>
              <a:rPr lang="en-US" sz="2084" spc="-4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ontext gets lost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284" y="5619948"/>
            <a:ext cx="4449239" cy="25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0"/>
              </a:lnSpc>
            </a:pPr>
            <a:r>
              <a:rPr lang="en-US" sz="2000" spc="-40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  <a:r>
              <a:rPr lang="en-US" sz="2000" spc="-40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 — Sources ar</a:t>
            </a:r>
            <a:r>
              <a:rPr lang="en-US" sz="2000" spc="-40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 difficult to trace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8284" y="7092139"/>
            <a:ext cx="3319750" cy="253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30"/>
              </a:lnSpc>
            </a:pPr>
            <a:r>
              <a:rPr lang="en-US" sz="1990" spc="-39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03 — Information overload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7391" y="8166361"/>
            <a:ext cx="7640366" cy="524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85"/>
              </a:lnSpc>
            </a:pPr>
            <a:r>
              <a:rPr lang="en-US" sz="2157" spc="-43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Th</a:t>
            </a:r>
            <a:r>
              <a:rPr lang="en-US" sz="2157" spc="-43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 problem isn't a</a:t>
            </a:r>
            <a:r>
              <a:rPr lang="en-US" sz="2157" spc="-43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ccess to information. It's knowing what the evidence actually supports.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884055" y="1780718"/>
            <a:ext cx="11171796" cy="8378847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9954" y="5111694"/>
            <a:ext cx="10350613" cy="5175306"/>
          </a:xfrm>
          <a:custGeom>
            <a:avLst/>
            <a:gdLst/>
            <a:ahLst/>
            <a:cxnLst/>
            <a:rect r="r" b="b" t="t" l="l"/>
            <a:pathLst>
              <a:path h="5175306" w="10350613">
                <a:moveTo>
                  <a:pt x="0" y="0"/>
                </a:moveTo>
                <a:lnTo>
                  <a:pt x="10350613" y="0"/>
                </a:lnTo>
                <a:lnTo>
                  <a:pt x="10350613" y="5175306"/>
                </a:lnTo>
                <a:lnTo>
                  <a:pt x="0" y="5175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034" y="966069"/>
            <a:ext cx="3313908" cy="285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131313"/>
                </a:solidFill>
                <a:latin typeface="Poppins"/>
                <a:ea typeface="Poppins"/>
                <a:cs typeface="Poppins"/>
                <a:sym typeface="Poppins"/>
              </a:rPr>
              <a:t>Meet</a:t>
            </a:r>
          </a:p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131313"/>
                </a:solidFill>
                <a:latin typeface="Poppins"/>
                <a:ea typeface="Poppins"/>
                <a:cs typeface="Poppins"/>
                <a:sym typeface="Poppins"/>
              </a:rPr>
              <a:t>Agent 0.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337544" y="1218583"/>
            <a:ext cx="11921756" cy="56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3"/>
              </a:lnSpc>
            </a:pPr>
            <a:r>
              <a:rPr lang="en-US" sz="2275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 AI-assist</a:t>
            </a:r>
            <a:r>
              <a:rPr lang="en-US" sz="2275" spc="-4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ed verification workspace that helps journalists investigate questionable claims, links and images before they publish.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37544" y="2277810"/>
            <a:ext cx="5093023" cy="51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1"/>
              </a:lnSpc>
            </a:pPr>
            <a:r>
              <a:rPr lang="en-US" sz="2110" spc="-42">
                <a:solidFill>
                  <a:srgbClr val="131313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10" spc="-42">
                <a:solidFill>
                  <a:srgbClr val="131313"/>
                </a:solidFill>
                <a:latin typeface="Arimo"/>
                <a:ea typeface="Arimo"/>
                <a:cs typeface="Arimo"/>
                <a:sym typeface="Arimo"/>
              </a:rPr>
              <a:t>t brings the evidence together.</a:t>
            </a:r>
          </a:p>
          <a:p>
            <a:pPr algn="just">
              <a:lnSpc>
                <a:spcPts val="1941"/>
              </a:lnSpc>
            </a:pPr>
            <a:r>
              <a:rPr lang="en-US" sz="2110" spc="-42">
                <a:solidFill>
                  <a:srgbClr val="131313"/>
                </a:solidFill>
                <a:latin typeface="Arimo"/>
                <a:ea typeface="Arimo"/>
                <a:cs typeface="Arimo"/>
                <a:sym typeface="Arimo"/>
              </a:rPr>
              <a:t>You make the call.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468103" y="4101466"/>
            <a:ext cx="3695026" cy="7311243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1313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0947" t="0" r="-1094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425558" y="5189216"/>
            <a:ext cx="3145288" cy="622349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13131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0038" t="0" r="-10038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8060385" y="5189216"/>
            <a:ext cx="3145288" cy="6223493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13131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0947" t="0" r="-10947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21743" y="1095375"/>
            <a:ext cx="10439403" cy="285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One wo</a:t>
            </a: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rkspace.</a:t>
            </a:r>
          </a:p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Three ways to investigate.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7434603"/>
            <a:ext cx="6224259" cy="48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0"/>
              </a:lnSpc>
            </a:pPr>
            <a:r>
              <a:rPr lang="en-US" sz="1575" spc="-15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Exa</a:t>
            </a:r>
            <a:r>
              <a:rPr lang="en-US" sz="1575" spc="-15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mine what an article or webpage claims and compare it with independent sources.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6834528"/>
            <a:ext cx="490337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spc="-20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Links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8763919"/>
            <a:ext cx="5993803" cy="47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</a:pPr>
            <a:r>
              <a:rPr lang="en-US" sz="1517" spc="-15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Inv</a:t>
            </a:r>
            <a:r>
              <a:rPr lang="en-US" sz="1517" spc="-15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estigate visible context, file information and available origin or Content Credentials.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8173369"/>
            <a:ext cx="330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spc="-20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Images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6096162"/>
            <a:ext cx="6224259" cy="48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0"/>
              </a:lnSpc>
            </a:pPr>
            <a:r>
              <a:rPr lang="en-US" sz="1575" spc="-15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Ch</a:t>
            </a:r>
            <a:r>
              <a:rPr lang="en-US" sz="1575" spc="-15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eck questionable statements against available reporting, official information and other evidence.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5495687"/>
            <a:ext cx="330430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b="true" sz="2099" spc="-20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Cl</a:t>
            </a:r>
            <a:r>
              <a:rPr lang="en-US" b="true" sz="2099" spc="-20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aims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1743" y="3598912"/>
            <a:ext cx="6500760" cy="50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3422" spc="-273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Diffe</a:t>
            </a:r>
            <a:r>
              <a:rPr lang="en-US" sz="3422" spc="-273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rent inputs. One evidence trail.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04368" y="1998191"/>
            <a:ext cx="10249957" cy="8229600"/>
            <a:chOff x="0" y="0"/>
            <a:chExt cx="7467600" cy="599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27155" y="2411730"/>
            <a:ext cx="5640951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 AGENT 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27155" y="3986948"/>
            <a:ext cx="7032145" cy="4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8"/>
              </a:lnSpc>
            </a:pP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Ag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ent 0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 doesn't tell journalists what to believe. It shows them what the evidence can establish.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27155" y="7499890"/>
            <a:ext cx="7032145" cy="24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8"/>
              </a:lnSpc>
            </a:pP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If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 som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ething cannot be established, Agent 0 says so.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27155" y="8653200"/>
            <a:ext cx="7274603" cy="24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8"/>
              </a:lnSpc>
            </a:pP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AI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 assi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sts the investigation. Editorial judgment stays with the journalist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27155" y="6812410"/>
            <a:ext cx="4097577" cy="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42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Uncertainty stays v</a:t>
            </a:r>
            <a:r>
              <a:rPr lang="en-US" b="true" sz="2100" spc="-42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isible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27155" y="8187999"/>
            <a:ext cx="3430687" cy="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2100" spc="-42" b="true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Yo</a:t>
            </a:r>
            <a:r>
              <a:rPr lang="en-US" b="true" sz="2100" spc="-42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u make</a:t>
            </a:r>
            <a:r>
              <a:rPr lang="en-US" b="true" sz="2100" spc="-42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 the final call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27155" y="5485865"/>
            <a:ext cx="4097577" cy="27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2100" spc="-42" b="true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Ev</a:t>
            </a:r>
            <a:r>
              <a:rPr lang="en-US" b="true" sz="2100" spc="-42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idence you can </a:t>
            </a:r>
            <a:r>
              <a:rPr lang="en-US" b="true" sz="2100" spc="-42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inspect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27155" y="6151091"/>
            <a:ext cx="7032145" cy="24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8"/>
              </a:lnSpc>
            </a:pP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Ev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ery importa</a:t>
            </a:r>
            <a:r>
              <a:rPr lang="en-US" sz="1900" spc="-38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nt finding traces back to the evidence behind it.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7550146" y="1028700"/>
            <a:ext cx="14347583" cy="8229600"/>
            <a:chOff x="0" y="0"/>
            <a:chExt cx="7981950" cy="4578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13131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2"/>
              <a:stretch>
                <a:fillRect l="-5657" t="0" r="-565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095375"/>
            <a:ext cx="4173421" cy="194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Business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01018"/>
            <a:ext cx="6787846" cy="66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6"/>
              </a:lnSpc>
            </a:pP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 — Journalis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ts</a:t>
            </a:r>
          </a:p>
          <a:p>
            <a:pPr algn="just">
              <a:lnSpc>
                <a:spcPts val="1656"/>
              </a:lnSpc>
            </a:pPr>
            <a:r>
              <a:rPr lang="en-US" sz="1800" spc="-36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Accessible individual investigations build adoption, trust and real-world feedback.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479417"/>
            <a:ext cx="6787846" cy="66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6"/>
              </a:lnSpc>
            </a:pP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 — Newsrooms</a:t>
            </a:r>
          </a:p>
          <a:p>
            <a:pPr algn="just">
              <a:lnSpc>
                <a:spcPts val="1656"/>
              </a:lnSpc>
            </a:pPr>
            <a:r>
              <a:rPr lang="en-US" sz="1800" spc="-36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Paid </a:t>
            </a:r>
            <a:r>
              <a:rPr lang="en-US" sz="1800" spc="-36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team plans for higher investigation volumes, shared workflows and editorial oversight.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553075"/>
            <a:ext cx="6787846" cy="66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6"/>
              </a:lnSpc>
            </a:pP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 — Institutions &amp; Platforms</a:t>
            </a:r>
          </a:p>
          <a:p>
            <a:pPr algn="just">
              <a:lnSpc>
                <a:spcPts val="1656"/>
              </a:lnSpc>
            </a:pPr>
            <a:r>
              <a:rPr lang="en-US" sz="1800" spc="-36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Enterprise integrations, API access and verification infrastructure for organizations operating at scale.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79108"/>
            <a:ext cx="6787846" cy="108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6"/>
              </a:lnSpc>
            </a:pP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04 --- 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Individuals</a:t>
            </a:r>
          </a:p>
          <a:p>
            <a:pPr algn="just">
              <a:lnSpc>
                <a:spcPts val="1656"/>
              </a:lnSpc>
            </a:pP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People checking suspicious news, forwarded messages, links or images before believing or sharing them.</a:t>
            </a:r>
          </a:p>
          <a:p>
            <a:pPr algn="just">
              <a:lnSpc>
                <a:spcPts val="1656"/>
              </a:lnSpc>
            </a:pPr>
          </a:p>
          <a:p>
            <a:pPr algn="just">
              <a:lnSpc>
                <a:spcPts val="165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47909"/>
            <a:ext cx="6787846" cy="24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6"/>
              </a:lnSpc>
            </a:pP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Pay 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as y</a:t>
            </a:r>
            <a:r>
              <a:rPr lang="en-US" b="true" sz="1800" spc="-36">
                <a:solidFill>
                  <a:srgbClr val="EFEFEF"/>
                </a:solidFill>
                <a:latin typeface="Arimo Bold"/>
                <a:ea typeface="Arimo Bold"/>
                <a:cs typeface="Arimo Bold"/>
                <a:sym typeface="Arimo Bold"/>
              </a:rPr>
              <a:t>ou investigate → Subscriptions → Institutional plans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9716" y="930838"/>
            <a:ext cx="7159752" cy="8229600"/>
          </a:xfrm>
          <a:custGeom>
            <a:avLst/>
            <a:gdLst/>
            <a:ahLst/>
            <a:cxnLst/>
            <a:rect r="r" b="b" t="t" l="l"/>
            <a:pathLst>
              <a:path h="8229600" w="7159752">
                <a:moveTo>
                  <a:pt x="0" y="0"/>
                </a:moveTo>
                <a:lnTo>
                  <a:pt x="7159752" y="0"/>
                </a:lnTo>
                <a:lnTo>
                  <a:pt x="71597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88037" y="2349409"/>
            <a:ext cx="6282033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lang="en-US" sz="7200" spc="-576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now?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88037" y="3733374"/>
            <a:ext cx="5426223" cy="3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  <a:r>
              <a:rPr lang="en-US" sz="2599" spc="-5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Th</a:t>
            </a:r>
            <a:r>
              <a:rPr lang="en-US" sz="2599" spc="-5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 verifica</a:t>
            </a:r>
            <a:r>
              <a:rPr lang="en-US" sz="2599" spc="-5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tion gap is getting harder.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88037" y="5390952"/>
            <a:ext cx="6282033" cy="57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72"/>
              </a:lnSpc>
            </a:pP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istribu</a:t>
            </a: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tion is instant.</a:t>
            </a:r>
          </a:p>
          <a:p>
            <a:pPr algn="just">
              <a:lnSpc>
                <a:spcPts val="1472"/>
              </a:lnSpc>
            </a:pP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A screenshot or forwarded message can reach thousands before verification catches up.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88037" y="4474392"/>
            <a:ext cx="6569272" cy="57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71"/>
              </a:lnSpc>
            </a:pPr>
            <a:r>
              <a:rPr lang="en-US" sz="1599" spc="-3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Sy</a:t>
            </a:r>
            <a:r>
              <a:rPr lang="en-US" sz="1599" spc="-3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nthetic media is becoming easier to create.</a:t>
            </a:r>
          </a:p>
          <a:p>
            <a:pPr algn="just">
              <a:lnSpc>
                <a:spcPts val="1471"/>
              </a:lnSpc>
            </a:pPr>
            <a:r>
              <a:rPr lang="en-US" sz="1599" spc="-3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Images, audio and content can be generated or manipulated faster and more convincingly.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88037" y="6305098"/>
            <a:ext cx="6282033" cy="39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72"/>
              </a:lnSpc>
            </a:pP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Journal</a:t>
            </a: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ists face </a:t>
            </a: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the same deadline.</a:t>
            </a:r>
          </a:p>
          <a:p>
            <a:pPr algn="just">
              <a:lnSpc>
                <a:spcPts val="1472"/>
              </a:lnSpc>
            </a:pPr>
            <a:r>
              <a:rPr lang="en-US" sz="1600" spc="-32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Verification has to become faster without lowering editorial standards.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79455" y="7981244"/>
            <a:ext cx="8269591" cy="62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599" spc="-5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Th</a:t>
            </a:r>
            <a:r>
              <a:rPr lang="en-US" sz="2599" spc="-5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e answer isn'</a:t>
            </a:r>
            <a:r>
              <a:rPr lang="en-US" sz="2599" spc="-51">
                <a:solidFill>
                  <a:srgbClr val="EFEFEF"/>
                </a:solidFill>
                <a:latin typeface="Arimo"/>
                <a:ea typeface="Arimo"/>
                <a:cs typeface="Arimo"/>
                <a:sym typeface="Arimo"/>
              </a:rPr>
              <a:t>t less human judgment. It's better tools for human judgment.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828800" y="102870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9845" y="3442331"/>
            <a:ext cx="13308309" cy="6654155"/>
          </a:xfrm>
          <a:custGeom>
            <a:avLst/>
            <a:gdLst/>
            <a:ahLst/>
            <a:cxnLst/>
            <a:rect r="r" b="b" t="t" l="l"/>
            <a:pathLst>
              <a:path h="6654155" w="13308309">
                <a:moveTo>
                  <a:pt x="0" y="0"/>
                </a:moveTo>
                <a:lnTo>
                  <a:pt x="13308310" y="0"/>
                </a:lnTo>
                <a:lnTo>
                  <a:pt x="13308310" y="6654154"/>
                </a:lnTo>
                <a:lnTo>
                  <a:pt x="0" y="6654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58396" y="2832611"/>
            <a:ext cx="9971207" cy="129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9"/>
              </a:lnSpc>
            </a:pPr>
            <a:r>
              <a:rPr lang="en-US" sz="9009" spc="-720">
                <a:solidFill>
                  <a:srgbClr val="EFEFEF"/>
                </a:solidFill>
                <a:latin typeface="Poppins"/>
                <a:ea typeface="Poppins"/>
                <a:cs typeface="Poppins"/>
                <a:sym typeface="Poppins"/>
              </a:rPr>
              <a:t>Thank You So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DAHW_gqditU</dc:identifier>
  <dcterms:modified xsi:type="dcterms:W3CDTF">2011-08-01T06:04:30Z</dcterms:modified>
  <cp:revision>1</cp:revision>
  <dc:title>Bouric Enos</dc:title>
</cp:coreProperties>
</file>